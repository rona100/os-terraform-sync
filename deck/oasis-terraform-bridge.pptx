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EEAD4"/>
                </a:solidFill>
                <a:latin typeface="Calibri"/>
              </a:rPr>
              <a:t>PROOF OF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60704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Oasis ⇄ Terraform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Identity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794760"/>
            <a:ext cx="98755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E2E8F0"/>
                </a:solidFill>
                <a:latin typeface="Calibri"/>
              </a:rPr>
              <a:t>Every non-human identity gets a known origin, owner, and lifecycle —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E2E8F0"/>
                </a:solidFill>
                <a:latin typeface="Calibri"/>
              </a:rPr>
              <a:t>from creation, not from a late scan.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257800"/>
            <a:ext cx="182880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E2E8F0"/>
                </a:solidFill>
                <a:latin typeface="Calibri"/>
              </a:rPr>
              <a:t>terraform plan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61488" y="5413248"/>
            <a:ext cx="384048" cy="256032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18688" y="5257800"/>
            <a:ext cx="1737360" cy="56692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OASIS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preventive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47488" y="5413248"/>
            <a:ext cx="384048" cy="256032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04688" y="5257800"/>
            <a:ext cx="1828800" cy="5669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E2E8F0"/>
                </a:solidFill>
                <a:latin typeface="Calibri"/>
              </a:rPr>
              <a:t>terraform apply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424927" y="5413248"/>
            <a:ext cx="384048" cy="256032"/>
          </a:xfrm>
          <a:prstGeom prst="rightArrow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82127" y="5257800"/>
            <a:ext cx="1737360" cy="566928"/>
          </a:xfrm>
          <a:prstGeom prst="roundRect">
            <a:avLst/>
          </a:prstGeom>
          <a:solidFill>
            <a:srgbClr val="0E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OASIS SYNC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detective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338CA"/>
                </a:solidFill>
                <a:latin typeface="Calibri"/>
              </a:rPr>
              <a:t>NHIS ARRIVE WITHOUT THEIR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Oasis ⇄ Terraform Identity Bridge  · 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972800" cy="868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5B6472"/>
                </a:solidFill>
                <a:latin typeface="Calibri"/>
              </a:rPr>
              <a:t>Terraform creates IAM roles, users, and keys. Oasis discovery finds them after the fact — owner: null, source: oasis_discovery. The intent and accountability that lived in Terraform are thrown away.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487168"/>
          <a:ext cx="10881360" cy="2971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/>
                <a:gridCol w="4206240"/>
                <a:gridCol w="4206240"/>
              </a:tblGrid>
              <a:tr h="4953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82296" marR="54864" marT="27432" marB="27432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Terraform knows</a:t>
                      </a:r>
                    </a:p>
                  </a:txBody>
                  <a:tcPr anchor="ctr" marL="82296" marR="54864" marT="27432" marB="27432">
                    <a:solidFill>
                      <a:srgbClr val="4338C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Oasis discovery knows</a:t>
                      </a:r>
                    </a:p>
                  </a:txBody>
                  <a:tcPr anchor="ctr" marL="82296" marR="54864" marT="27432" marB="27432">
                    <a:solidFill>
                      <a:srgbClr val="4338CA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F2B"/>
                          </a:solidFill>
                          <a:latin typeface="Calibri"/>
                        </a:rPr>
                        <a:t>Origin / intent</a:t>
                      </a:r>
                    </a:p>
                  </a:txBody>
                  <a:tcPr anchor="ctr" marL="82296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5803D"/>
                          </a:solidFill>
                          <a:latin typeface="Calibri"/>
                        </a:rPr>
                        <a:t>who wrote it, which module, what for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F2B"/>
                          </a:solidFill>
                          <a:latin typeface="Calibri"/>
                        </a:rPr>
                        <a:t>Ownership</a:t>
                      </a:r>
                    </a:p>
                  </a:txBody>
                  <a:tcPr anchor="ctr" marL="82296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5803D"/>
                          </a:solidFill>
                          <a:latin typeface="Calibri"/>
                        </a:rPr>
                        <a:t>from tags / module / Git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Calibri"/>
                        </a:rPr>
                        <a:t>✗  owner: null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F2B"/>
                          </a:solidFill>
                          <a:latin typeface="Calibri"/>
                        </a:rPr>
                        <a:t>Classification</a:t>
                      </a:r>
                    </a:p>
                  </a:txBody>
                  <a:tcPr anchor="ctr" marL="82296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5803D"/>
                          </a:solidFill>
                          <a:latin typeface="Calibri"/>
                        </a:rPr>
                        <a:t>env, criticality, privilege, credential type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F2B"/>
                          </a:solidFill>
                          <a:latin typeface="Calibri"/>
                        </a:rPr>
                        <a:t>Lifecycle events</a:t>
                      </a:r>
                    </a:p>
                  </a:txBody>
                  <a:tcPr anchor="ctr" marL="82296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5803D"/>
                          </a:solidFill>
                          <a:latin typeface="Calibri"/>
                        </a:rPr>
                        <a:t>create / update / destroy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E7A74"/>
                          </a:solidFill>
                          <a:latin typeface="Calibri"/>
                        </a:rPr>
                        <a:t>inferred, delayed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F2B"/>
                          </a:solidFill>
                          <a:latin typeface="Calibri"/>
                        </a:rPr>
                        <a:t>Runtime reality</a:t>
                      </a:r>
                    </a:p>
                  </a:txBody>
                  <a:tcPr anchor="ctr" marL="82296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E7A74"/>
                          </a:solidFill>
                          <a:latin typeface="Calibri"/>
                        </a:rPr>
                        <a:t>last used, staleness, secrets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5321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91C1C"/>
                </a:solidFill>
                <a:latin typeface="Calibri"/>
              </a:rPr>
              <a:t>Result: orphaned credentials, no accountability, silent privilege creep.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338CA"/>
                </a:solidFill>
                <a:latin typeface="Calibri"/>
              </a:rPr>
              <a:t>THREE PARTS: INTENT FROM TERRAFORM, REALITY FROM A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Oasis ⇄ Terraform Identity Bridge  · 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19072"/>
            <a:ext cx="2011680" cy="62179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A1F2B"/>
                </a:solidFill>
                <a:latin typeface="Calibri"/>
              </a:rPr>
              <a:t>terraform plan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43200" y="1901952"/>
            <a:ext cx="329184" cy="25603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63824" y="1719072"/>
            <a:ext cx="1874519" cy="621792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OASIS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preventive · opt-in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129784" y="1901952"/>
            <a:ext cx="329184" cy="25603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550408" y="1719072"/>
            <a:ext cx="2011680" cy="62179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A1F2B"/>
                </a:solidFill>
                <a:latin typeface="Calibri"/>
              </a:rPr>
              <a:t>terraform apply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53527" y="1901952"/>
            <a:ext cx="329184" cy="25603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4152" y="1719072"/>
            <a:ext cx="1874519" cy="621792"/>
          </a:xfrm>
          <a:prstGeom prst="roundRect">
            <a:avLst/>
          </a:prstGeom>
          <a:solidFill>
            <a:srgbClr val="0E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OASIS SYNC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detective · zero-touch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040112" y="1901952"/>
            <a:ext cx="329184" cy="25603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60736" y="1719072"/>
            <a:ext cx="1078992" cy="621792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E2E8F0"/>
                </a:solidFill>
                <a:latin typeface="Calibri"/>
              </a:rPr>
              <a:t>Oasis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Calibri"/>
              </a:rPr>
              <a:t>inventory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2542032"/>
            <a:ext cx="1874519" cy="56692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DISCOVERY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continuous scan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040112" y="2697479"/>
            <a:ext cx="329184" cy="25603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2560320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B6472"/>
                </a:solidFill>
                <a:latin typeface="Calibri"/>
              </a:rPr>
              <a:t>confirms
reality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01568"/>
            <a:ext cx="3621024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401568"/>
            <a:ext cx="118872" cy="196596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547872"/>
            <a:ext cx="3200400" cy="1691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4338CA"/>
                </a:solidFill>
                <a:latin typeface="Calibri"/>
              </a:rPr>
              <a:t>GATE — preventive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B"/>
                </a:solidFill>
                <a:latin typeface="Calibri"/>
              </a:rPr>
              <a:t>Reviews the proposed plan before anything exists.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Calibri"/>
              </a:rPr>
              <a:t>A deny exits non-zero, so terraform apply never runs.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3401568"/>
            <a:ext cx="3621024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79392" y="3401568"/>
            <a:ext cx="118872" cy="1965960"/>
          </a:xfrm>
          <a:prstGeom prst="roundRect">
            <a:avLst/>
          </a:prstGeom>
          <a:solidFill>
            <a:srgbClr val="0E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3547872"/>
            <a:ext cx="3200400" cy="1691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0E7A74"/>
                </a:solidFill>
                <a:latin typeface="Calibri"/>
              </a:rPr>
              <a:t>SYNC — detective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B"/>
                </a:solidFill>
                <a:latin typeface="Calibri"/>
              </a:rPr>
              <a:t>Diffs Terraform state into lifecycle events.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Calibri"/>
              </a:rPr>
              <a:t>Supplies intent: owner, classification, provenance.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18704" y="3401568"/>
            <a:ext cx="3621024" cy="1965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18704" y="3401568"/>
            <a:ext cx="118872" cy="19659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3547872"/>
            <a:ext cx="3200400" cy="1691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50" b="1" i="0">
                <a:solidFill>
                  <a:srgbClr val="4F46E5"/>
                </a:solidFill>
                <a:latin typeface="Calibri"/>
              </a:rPr>
              <a:t>DISCOVERY — continuous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A1F2B"/>
                </a:solidFill>
                <a:latin typeface="Calibri"/>
              </a:rPr>
              <a:t>Scans the cloud for what actually exists.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Calibri"/>
              </a:rPr>
              <a:t>Supplies reality: existence, usage, staleness.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577840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1A1F2B"/>
                </a:solidFill>
                <a:latin typeface="Calibri"/>
              </a:rPr>
              <a:t>Terraform knows intent. Only a scan knows reality. Each is authoritative for its own half — neither overwrites the other.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5B6472"/>
                </a:solidFill>
                <a:latin typeface="Calibri"/>
              </a:rPr>
              <a:t>Where they disagree, the disagreement is the finding: destroyed in Terraform but still live = an orphaned identity.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338CA"/>
                </a:solidFill>
                <a:latin typeface="Calibri"/>
              </a:rPr>
              <a:t>OWNERSHIP AND CLASSIFICATION LAND ON THE DISCOVERED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Sync · the headline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Oasis ⇄ Terraform Identity Bridge  · 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029200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▪ Set-diff two states → CREATE / UPDATE / DESTROY lifecycle events.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▪ Fills what discovery can't: owner, source — and a derived classification (environment, criticality, privileged, credential type).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▪ Flags privilege increases (e.g. +AdministratorAccess) inline.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▪ Secrets fold into their identity: IAM access keys and Secrets Manager secrets, with rotation state.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▪ The discovered payment-processor is matched by ARN and reconciled — not duplicated.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737360"/>
            <a:ext cx="5577840" cy="41605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08192" y="1865376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54496" y="186537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86537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08192" y="2066543"/>
            <a:ext cx="5248655" cy="3703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150"/>
              </a:spcAft>
            </a:pPr>
            <a:r>
              <a:rPr sz="1150" b="0">
                <a:solidFill>
                  <a:srgbClr val="94A3B8"/>
                </a:solidFill>
                <a:latin typeface="Consolas"/>
              </a:rPr>
              <a:t>== state diff -&gt; identity lifecycle events ==</a:t>
            </a:r>
          </a:p>
          <a:p>
            <a:pPr>
              <a:spcAft>
                <a:spcPts val="150"/>
              </a:spcAft>
            </a:pPr>
            <a:r>
              <a:rPr sz="1150" b="1">
                <a:solidFill>
                  <a:srgbClr val="86EFAC"/>
                </a:solidFill>
                <a:latin typeface="Consolas"/>
              </a:rPr>
              <a:t>  CREATE   github-actions-deployer</a:t>
            </a:r>
          </a:p>
          <a:p>
            <a:pPr>
              <a:spcAft>
                <a:spcPts val="150"/>
              </a:spcAft>
            </a:pPr>
            <a:r>
              <a:rPr sz="1150" b="1">
                <a:solidFill>
                  <a:srgbClr val="86EFAC"/>
                </a:solidFill>
                <a:latin typeface="Consolas"/>
              </a:rPr>
              <a:t>  CREATE   invoice-sync</a:t>
            </a:r>
          </a:p>
          <a:p>
            <a:pPr>
              <a:spcAft>
                <a:spcPts val="150"/>
              </a:spcAft>
            </a:pPr>
            <a:r>
              <a:rPr sz="1150" b="1">
                <a:solidFill>
                  <a:srgbClr val="FCA5A5"/>
                </a:solidFill>
                <a:latin typeface="Consolas"/>
              </a:rPr>
              <a:t>  DESTROY  report-generator</a:t>
            </a:r>
          </a:p>
          <a:p>
            <a:pPr>
              <a:spcAft>
                <a:spcPts val="150"/>
              </a:spcAft>
            </a:pPr>
            <a:r>
              <a:rPr sz="1150" b="1">
                <a:solidFill>
                  <a:srgbClr val="FDE047"/>
                </a:solidFill>
                <a:latin typeface="Consolas"/>
              </a:rPr>
              <a:t>  UPDATE   payment-processor</a:t>
            </a:r>
          </a:p>
          <a:p>
            <a:pPr>
              <a:spcAft>
                <a:spcPts val="150"/>
              </a:spcAft>
            </a:pPr>
            <a:r>
              <a:rPr sz="1150" b="1">
                <a:solidFill>
                  <a:srgbClr val="FDE047"/>
                </a:solidFill>
                <a:latin typeface="Consolas"/>
              </a:rPr>
              <a:t>           - +AdministratorAccess  [PRIVILEGE INCREASE]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 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payment-processor  [matched discovered record]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owner         : null            -&gt; payments-team@...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source        : oasis_discovery -&gt; terraform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classification: none -&gt; env=prod/criticality=high/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                        privileged=True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943599"/>
            <a:ext cx="5577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B6472"/>
                </a:solidFill>
                <a:latin typeface="Calibri"/>
              </a:rPr>
              <a:t>Real output — run_demo.sh, scenario 1 (two-file diff)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338CA"/>
                </a:solidFill>
                <a:latin typeface="Calibri"/>
              </a:rPr>
              <a:t>THE INVENTORY AS BASELINE — AND THE FULL IDENTITY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Sync · evolved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Oasis ⇄ Terraform Identity Bridge  · 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12064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▪ Instead of keeping yesterday's state file, diff the current state against the live Oasis inventory — nothing to retain.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▪ Because the baseline IS Oasis, the diff can use what discovery knows: unused for a year, but still defined in Terraform → deprecate it.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▪ Neither system can conclude that alone. That is the whole point of connecting them.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>
                <a:solidFill>
                  <a:srgbClr val="1A1F2B"/>
                </a:solidFill>
                <a:latin typeface="Calibri"/>
              </a:rPr>
              <a:t>▪ Discovery's runtime facts (last used, staleness) survive the sync — Oasis merges, never overwrites.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4338CA"/>
                </a:solidFill>
                <a:latin typeface="Calibri"/>
              </a:rPr>
              <a:t>IDENTITY LIFECYCLE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24528"/>
            <a:ext cx="1170432" cy="530352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A1F2B"/>
                </a:solidFill>
                <a:latin typeface="Calibri"/>
              </a:rPr>
              <a:t>active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83664" y="4361688"/>
            <a:ext cx="237744" cy="25603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94560" y="4224528"/>
            <a:ext cx="1371600" cy="530352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deprecated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stale, still coded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39312" y="4361688"/>
            <a:ext cx="237744" cy="25603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50208" y="4224528"/>
            <a:ext cx="1810512" cy="530352"/>
          </a:xfrm>
          <a:prstGeom prst="roundRect">
            <a:avLst/>
          </a:prstGeom>
          <a:solidFill>
            <a:srgbClr val="787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decommission_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480560" y="4956048"/>
            <a:ext cx="237744" cy="219456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20" y="5212080"/>
            <a:ext cx="1371600" cy="475488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decommissioned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35424" y="5212080"/>
            <a:ext cx="1225296" cy="475488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orphaned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still live 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30368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B6472"/>
                </a:solidFill>
                <a:latin typeface="Calibri"/>
              </a:rPr>
              <a:t>a scan decides: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645920"/>
            <a:ext cx="5577840" cy="44348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08192" y="1773936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177393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177393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08192" y="1975104"/>
            <a:ext cx="5248655" cy="397763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150"/>
              </a:spcAft>
            </a:pPr>
            <a:r>
              <a:rPr sz="1150" b="1">
                <a:solidFill>
                  <a:srgbClr val="5EEAD4"/>
                </a:solidFill>
                <a:latin typeface="Consolas"/>
              </a:rPr>
              <a:t>$ oasis-sync --new state_v1.json     # no --old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 </a:t>
            </a:r>
          </a:p>
          <a:p>
            <a:pPr>
              <a:spcAft>
                <a:spcPts val="150"/>
              </a:spcAft>
            </a:pPr>
            <a:r>
              <a:rPr sz="1150" b="1">
                <a:solidFill>
                  <a:srgbClr val="FDE047"/>
                </a:solidFill>
                <a:latin typeface="Consolas"/>
              </a:rPr>
              <a:t>  UPDATE   report-generator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         - lifecycle_status: active -&gt; deprecated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         - stale in Oasis (last used 2024-08-10)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           but still declared in Terraform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 </a:t>
            </a:r>
          </a:p>
          <a:p>
            <a:pPr>
              <a:spcAft>
                <a:spcPts val="150"/>
              </a:spcAft>
            </a:pPr>
            <a:r>
              <a:rPr sz="1150" b="1">
                <a:solidFill>
                  <a:srgbClr val="5EEAD4"/>
                </a:solidFill>
                <a:latin typeface="Consolas"/>
              </a:rPr>
              <a:t>$ oasis-sync --new state_v2.json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 </a:t>
            </a:r>
          </a:p>
          <a:p>
            <a:pPr>
              <a:spcAft>
                <a:spcPts val="150"/>
              </a:spcAft>
            </a:pPr>
            <a:r>
              <a:rPr sz="1150" b="1">
                <a:solidFill>
                  <a:srgbClr val="FCA5A5"/>
                </a:solidFill>
                <a:latin typeface="Consolas"/>
              </a:rPr>
              <a:t>  DESTROY  report-generator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         - lifecycle_status -&gt; decommission_pending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         - awaiting discovery scan to confirm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 </a:t>
            </a:r>
          </a:p>
          <a:p>
            <a:pPr>
              <a:spcAft>
                <a:spcPts val="150"/>
              </a:spcAft>
            </a:pPr>
            <a:r>
              <a:rPr sz="1150" b="1">
                <a:solidFill>
                  <a:srgbClr val="5EEAD4"/>
                </a:solidFill>
                <a:latin typeface="Consolas"/>
              </a:rPr>
              <a:t>$ POST /api/v1/discovery:scan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 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report-generator: pending -&gt; orphaned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  still present in the cloud after Terraform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  destroyed it -- ungoverned and still usable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6126479"/>
            <a:ext cx="5577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B6472"/>
                </a:solidFill>
                <a:latin typeface="Calibri"/>
              </a:rPr>
              <a:t>Real output — scenario 2 (sync) then scenario 3 (scan)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338CA"/>
                </a:solidFill>
                <a:latin typeface="Calibri"/>
              </a:rPr>
              <a:t>POLICY REVIEW THAT BLOCKS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Gate ·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Oasis ⇄ Terraform Identity Bridge  · 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029200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▪ Reviews the proposed plan before anything is created.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▪ Any high-severity violation → verdict deny.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▪ Deny → non-zero exit → terraform apply never runs.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▪ Rules are pure functions owned centrally by Oasis — not copied into each repo.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>
                <a:solidFill>
                  <a:srgbClr val="1A1F2B"/>
                </a:solidFill>
                <a:latin typeface="Calibri"/>
              </a:rPr>
              <a:t>▪ Warnings (non-high) approve-with-warnings, surfaced on the PR.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737360"/>
            <a:ext cx="5577840" cy="4023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08192" y="1865376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54496" y="1865376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865376"/>
            <a:ext cx="82296" cy="8229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08192" y="2066543"/>
            <a:ext cx="5248655" cy="3566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150"/>
              </a:spcAft>
            </a:pPr>
            <a:r>
              <a:rPr sz="1150" b="1">
                <a:solidFill>
                  <a:srgbClr val="5EEAD4"/>
                </a:solidFill>
                <a:latin typeface="Consolas"/>
              </a:rPr>
              <a:t>$ oasis-gate --plan plan_denied.json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 </a:t>
            </a:r>
          </a:p>
          <a:p>
            <a:pPr>
              <a:spcAft>
                <a:spcPts val="150"/>
              </a:spcAft>
            </a:pPr>
            <a:r>
              <a:rPr sz="1150" b="1">
                <a:solidFill>
                  <a:srgbClr val="FCA5A5"/>
                </a:solidFill>
                <a:latin typeface="Consolas"/>
              </a:rPr>
              <a:t>  [HIGH]    no-admin-on-new-nhi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          super_admin requests AdministratorAccess</a:t>
            </a:r>
          </a:p>
          <a:p>
            <a:pPr>
              <a:spcAft>
                <a:spcPts val="150"/>
              </a:spcAft>
            </a:pPr>
            <a:r>
              <a:rPr sz="1150" b="1">
                <a:solidFill>
                  <a:srgbClr val="FDE047"/>
                </a:solidFill>
                <a:latin typeface="Consolas"/>
              </a:rPr>
              <a:t>  [MEDIUM]  require-owner-tag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          super_admin has no owner/team tag</a:t>
            </a:r>
          </a:p>
          <a:p>
            <a:pPr>
              <a:spcAft>
                <a:spcPts val="150"/>
              </a:spcAft>
            </a:pPr>
            <a:r>
              <a:rPr sz="1150" b="1">
                <a:solidFill>
                  <a:srgbClr val="FCA5A5"/>
                </a:solidFill>
                <a:latin typeface="Consolas"/>
              </a:rPr>
              <a:t>  [HIGH]    no-long-lived-access-key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            ci_deploy creates a static access key</a:t>
            </a:r>
          </a:p>
          <a:p>
            <a:pPr>
              <a:spcAft>
                <a:spcPts val="150"/>
              </a:spcAft>
            </a:pPr>
            <a:r>
              <a:rPr sz="1150" b="0">
                <a:solidFill>
                  <a:srgbClr val="E2E8F0"/>
                </a:solidFill>
                <a:latin typeface="Consolas"/>
              </a:rPr>
              <a:t> </a:t>
            </a:r>
          </a:p>
          <a:p>
            <a:pPr>
              <a:spcAft>
                <a:spcPts val="150"/>
              </a:spcAft>
            </a:pPr>
            <a:r>
              <a:rPr sz="1150" b="1">
                <a:solidFill>
                  <a:srgbClr val="FCA5A5"/>
                </a:solidFill>
                <a:latin typeface="Consolas"/>
              </a:rPr>
              <a:t>VERDICT: DENY  -  apply blocked by Oasis policy</a:t>
            </a:r>
          </a:p>
          <a:p>
            <a:pPr>
              <a:spcAft>
                <a:spcPts val="150"/>
              </a:spcAft>
            </a:pPr>
            <a:r>
              <a:rPr sz="1150" b="1">
                <a:solidFill>
                  <a:srgbClr val="FCA5A5"/>
                </a:solidFill>
                <a:latin typeface="Consolas"/>
              </a:rPr>
              <a:t>gate exit code: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806440"/>
            <a:ext cx="55778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5B6472"/>
                </a:solidFill>
                <a:latin typeface="Calibri"/>
              </a:rPr>
              <a:t>Real output — scenario 4 (risky plan)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338CA"/>
                </a:solidFill>
                <a:latin typeface="Calibri"/>
              </a:rPr>
              <a:t>ONE PIPELINE, EVENT-DRIVEN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Oasis ⇄ Terraform Identity Bridge  · 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828800" cy="640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A1F2B"/>
                </a:solidFill>
                <a:latin typeface="Calibri"/>
              </a:rPr>
              <a:t>tf_parser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96312" y="1975104"/>
            <a:ext cx="274320" cy="25603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88920" y="1783080"/>
            <a:ext cx="1828800" cy="640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A1F2B"/>
                </a:solidFill>
                <a:latin typeface="Calibri"/>
              </a:rPr>
              <a:t>differ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645152" y="1975104"/>
            <a:ext cx="274320" cy="25603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37760" y="1783080"/>
            <a:ext cx="1828800" cy="640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A1F2B"/>
                </a:solidFill>
                <a:latin typeface="Calibri"/>
              </a:rPr>
              <a:t>translator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793992" y="1975104"/>
            <a:ext cx="274320" cy="25603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86600" y="1783080"/>
            <a:ext cx="1828800" cy="640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A1F2B"/>
                </a:solidFill>
                <a:latin typeface="Calibri"/>
              </a:rPr>
              <a:t>oasis_client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42832" y="1975104"/>
            <a:ext cx="274320" cy="25603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1783080"/>
            <a:ext cx="1737360" cy="640080"/>
          </a:xfrm>
          <a:prstGeom prst="roundRect">
            <a:avLst/>
          </a:prstGeom>
          <a:solidFill>
            <a:srgbClr val="0E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Oasis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05456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5B6472"/>
                </a:solidFill>
                <a:latin typeface="Calibri"/>
              </a:rPr>
              <a:t>Thin CLIs, no business logic. The differ keys by TF address (two-file) or ARN (inventory) — surviving “ARN known after apply”.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B6472"/>
                </a:solidFill>
                <a:latin typeface="Calibri"/>
              </a:rPr>
              <a:t>Covers IAM roles/users/keys, Secrets Manager, OIDC-federated workload identities and GCP service accounts. Terraform owns provenance; discovery owns runtime — so writes merge, never replace.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83280"/>
            <a:ext cx="10881360" cy="214884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29584"/>
            <a:ext cx="10332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338CA"/>
                </a:solidFill>
                <a:latin typeface="Calibri"/>
              </a:rPr>
              <a:t>DEPLOYMENT — detective by inference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069080"/>
            <a:ext cx="2468880" cy="7772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E2E8F0"/>
                </a:solidFill>
                <a:latin typeface="Calibri"/>
              </a:rPr>
              <a:t>terraform apply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2E8F0"/>
                </a:solidFill>
                <a:latin typeface="Calibri"/>
              </a:rPr>
              <a:t>writes new state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474720" y="4325112"/>
            <a:ext cx="384048" cy="256032"/>
          </a:xfrm>
          <a:prstGeom prst="rightArrow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77639" y="4069080"/>
            <a:ext cx="2651760" cy="77724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state-write event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S3 / GCS / TFC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739128" y="4325112"/>
            <a:ext cx="384048" cy="256032"/>
          </a:xfrm>
          <a:prstGeom prst="rightArrow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42048" y="4069080"/>
            <a:ext cx="2377440" cy="777240"/>
          </a:xfrm>
          <a:prstGeom prst="roundRect">
            <a:avLst/>
          </a:prstGeom>
          <a:solidFill>
            <a:srgbClr val="0E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oasis_bridge sync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Lambda / Function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710928" y="4325112"/>
            <a:ext cx="384048" cy="256032"/>
          </a:xfrm>
          <a:prstGeom prst="rightArrow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13848" y="4069080"/>
            <a:ext cx="1188720" cy="777240"/>
          </a:xfrm>
          <a:prstGeom prst="roundRect">
            <a:avLst/>
          </a:prstGeom>
          <a:solidFill>
            <a:srgbClr val="0E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Oasis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8348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Calibri"/>
              </a:rPr>
              <a:t>A new state version = an apply happened. Zero-touch: no HCL or pipeline changes, covers every apply (CI, local, laptop).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338CA"/>
                </a:solidFill>
                <a:latin typeface="Calibri"/>
              </a:rPr>
              <a:t>… AND WHERE IT GOES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Honest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Oasis ⇄ Terraform Identity Bridge  · 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00784"/>
            <a:ext cx="128016" cy="512064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10515600" cy="6766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1A1F2B"/>
                </a:solidFill>
                <a:latin typeface="Calibri"/>
              </a:rPr>
              <a:t>Detective ≠ preventive  —  </a:t>
            </a:r>
            <a:r>
              <a:rPr sz="1350" b="0">
                <a:solidFill>
                  <a:srgbClr val="5B6472"/>
                </a:solidFill>
                <a:latin typeface="Calibri"/>
              </a:rPr>
              <a:t>State is written after apply, so sync records reality; the gate adds prevention, but only in CI.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14016"/>
            <a:ext cx="128016" cy="512064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10515600" cy="6766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1A1F2B"/>
                </a:solidFill>
                <a:latin typeface="Calibri"/>
              </a:rPr>
              <a:t>Source-scoped destroys  —  </a:t>
            </a:r>
            <a:r>
              <a:rPr sz="1350" b="0">
                <a:solidFill>
                  <a:srgbClr val="5B6472"/>
                </a:solidFill>
                <a:latin typeface="Calibri"/>
              </a:rPr>
              <a:t>Inventory mode won’t decommission across workspaces — fix: stamp records with a workspace key.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27248"/>
            <a:ext cx="128016" cy="512064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90672"/>
            <a:ext cx="10515600" cy="6766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1A1F2B"/>
                </a:solidFill>
                <a:latin typeface="Calibri"/>
              </a:rPr>
              <a:t>Out-of-band changes  —  </a:t>
            </a:r>
            <a:r>
              <a:rPr sz="1350" b="0">
                <a:solidFill>
                  <a:srgbClr val="5B6472"/>
                </a:solidFill>
                <a:latin typeface="Calibri"/>
              </a:rPr>
              <a:t>Console clicks / terraform state rm bypass the bridge — Oasis discovery stays the backstop.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40480"/>
            <a:ext cx="128016" cy="512064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03904"/>
            <a:ext cx="10515600" cy="6766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1A1F2B"/>
                </a:solidFill>
                <a:latin typeface="Calibri"/>
              </a:rPr>
              <a:t>Privilege model  —  </a:t>
            </a:r>
            <a:r>
              <a:rPr sz="1350" b="0">
                <a:solidFill>
                  <a:srgbClr val="5B6472"/>
                </a:solidFill>
                <a:latin typeface="Calibri"/>
              </a:rPr>
              <a:t>Policy rules fire on create and read inline policies — attachment resources and trust-policy changes need the same treatment.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53712"/>
            <a:ext cx="128016" cy="512064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17136"/>
            <a:ext cx="10515600" cy="6766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1A1F2B"/>
                </a:solidFill>
                <a:latin typeface="Calibri"/>
              </a:rPr>
              <a:t>Event ordering  —  </a:t>
            </a:r>
            <a:r>
              <a:rPr sz="1350" b="0">
                <a:solidFill>
                  <a:srgbClr val="5B6472"/>
                </a:solidFill>
                <a:latin typeface="Calibri"/>
              </a:rPr>
              <a:t>State-write events are unordered and at-least-once; gating on the state serial would make syncs safely replayable.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266944"/>
            <a:ext cx="128016" cy="512064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30368"/>
            <a:ext cx="10515600" cy="67665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1A1F2B"/>
                </a:solidFill>
                <a:latin typeface="Calibri"/>
              </a:rPr>
              <a:t>Ownership provenance  —  </a:t>
            </a:r>
            <a:r>
              <a:rPr sz="1350" b="0">
                <a:solidFill>
                  <a:srgbClr val="5B6472"/>
                </a:solidFill>
                <a:latin typeface="Calibri"/>
              </a:rPr>
              <a:t>Precedence is tag → team → module → none; Git author / CODEOWNERS needs a CI hook.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1">
                <a:solidFill>
                  <a:srgbClr val="4338CA"/>
                </a:solidFill>
                <a:latin typeface="Calibri"/>
              </a:rPr>
              <a:t>Built to start a design conversation — the gaps are deliberate and documented.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338CA"/>
                </a:solidFill>
                <a:latin typeface="Calibri"/>
              </a:rPr>
              <a:t>APPENDIX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Why a CI step, not a Terraform provider?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Oasis ⇄ Terraform Identity Bridge  · 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A custom Oasis provider (resource "oasis_identity" or a plan-time data source) is viable — here's why the PoC led with a CI step + event-driven sync.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240280"/>
          <a:ext cx="10881360" cy="2880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/>
                <a:gridCol w="4206240"/>
                <a:gridCol w="4206240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Concern</a:t>
                      </a:r>
                    </a:p>
                  </a:txBody>
                  <a:tcPr anchor="ctr" marL="82296" marR="54864" marT="27432" marB="27432">
                    <a:solidFill>
                      <a:srgbClr val="1A1F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Terraform provider</a:t>
                      </a:r>
                    </a:p>
                  </a:txBody>
                  <a:tcPr anchor="ctr" marL="82296" marR="54864" marT="27432" marB="27432">
                    <a:solidFill>
                      <a:srgbClr val="5B6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CI step + event  (chosen)</a:t>
                      </a:r>
                    </a:p>
                  </a:txBody>
                  <a:tcPr anchor="ctr" marL="82296" marR="54864" marT="27432" marB="27432">
                    <a:solidFill>
                      <a:srgbClr val="0E7A74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Calibri"/>
                        </a:rPr>
                        <a:t>Cross-resource policy</a:t>
                      </a:r>
                    </a:p>
                  </a:txBody>
                  <a:tcPr anchor="ctr" marL="82296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472"/>
                          </a:solidFill>
                          <a:latin typeface="Calibri"/>
                        </a:rPr>
                        <a:t>data source sees only its own resource</a:t>
                      </a:r>
                    </a:p>
                  </a:txBody>
                  <a:tcPr anchor="ctr" marL="82296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Calibri"/>
                        </a:rPr>
                        <a:t>gate evaluates the whole plan</a:t>
                      </a:r>
                    </a:p>
                  </a:txBody>
                  <a:tcPr anchor="ctr" marL="82296" marR="54864" marT="27432" marB="27432"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Calibri"/>
                        </a:rPr>
                        <a:t>HCL changes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472"/>
                          </a:solidFill>
                          <a:latin typeface="Calibri"/>
                        </a:rPr>
                        <a:t>per-resource oasis_ blocks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Calibri"/>
                        </a:rPr>
                        <a:t>none — a pipeline step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Calibri"/>
                        </a:rPr>
                        <a:t>Policy updates</a:t>
                      </a:r>
                    </a:p>
                  </a:txBody>
                  <a:tcPr anchor="ctr" marL="82296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472"/>
                          </a:solidFill>
                          <a:latin typeface="Calibri"/>
                        </a:rPr>
                        <a:t>provider release + repo version bumps</a:t>
                      </a:r>
                    </a:p>
                  </a:txBody>
                  <a:tcPr anchor="ctr" marL="82296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Calibri"/>
                        </a:rPr>
                        <a:t>central, server-side</a:t>
                      </a:r>
                    </a:p>
                  </a:txBody>
                  <a:tcPr anchor="ctr" marL="82296" marR="54864" marT="27432" marB="27432"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Calibri"/>
                        </a:rPr>
                        <a:t>Out-of-band applies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B6472"/>
                          </a:solidFill>
                          <a:latin typeface="Calibri"/>
                        </a:rPr>
                        <a:t>only when TF runs with the provider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Calibri"/>
                        </a:rPr>
                        <a:t>event-sync + discovery cover all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A1F2B"/>
                          </a:solidFill>
                          <a:latin typeface="Calibri"/>
                        </a:rPr>
                        <a:t>Native lifecycle / drift</a:t>
                      </a:r>
                    </a:p>
                  </a:txBody>
                  <a:tcPr anchor="ctr" marL="82296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Calibri"/>
                        </a:rPr>
                        <a:t>provider wins  ✓</a:t>
                      </a:r>
                    </a:p>
                  </a:txBody>
                  <a:tcPr anchor="ctr" marL="82296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94A3B8"/>
                          </a:solidFill>
                          <a:latin typeface="Calibri"/>
                        </a:rPr>
                        <a:t>not native</a:t>
                      </a:r>
                    </a:p>
                  </a:txBody>
                  <a:tcPr anchor="ctr" marL="82296" marR="54864" marT="27432" marB="2743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440680"/>
            <a:ext cx="10881360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5440680"/>
            <a:ext cx="128016" cy="86868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41264"/>
            <a:ext cx="10424160" cy="685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4338CA"/>
                </a:solidFill>
                <a:latin typeface="Calibri"/>
              </a:rPr>
              <a:t>Offer both.  </a:t>
            </a:r>
            <a:r>
              <a:rPr sz="1300" b="0">
                <a:solidFill>
                  <a:srgbClr val="1A1F2B"/>
                </a:solidFill>
                <a:latin typeface="Calibri"/>
              </a:rPr>
              <a:t>CI/event for universal, zero-touch coverage; an optional provider for in-graph lifecycle. The core in </a:t>
            </a:r>
            <a:r>
              <a:rPr sz="1300" b="1">
                <a:solidFill>
                  <a:srgbClr val="0E7A74"/>
                </a:solidFill>
                <a:latin typeface="Calibri"/>
              </a:rPr>
              <a:t>oasis_bridge/</a:t>
            </a:r>
            <a:r>
              <a:rPr sz="1300" b="0">
                <a:solidFill>
                  <a:srgbClr val="1A1F2B"/>
                </a:solidFill>
                <a:latin typeface="Calibri"/>
              </a:rPr>
              <a:t> is provider-agnostic — additive, not a rewrite.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4338CA"/>
                </a:solidFill>
                <a:latin typeface="Calibri"/>
              </a:rPr>
              <a:t>APPENDIX · SELF-CRITIQUE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Design gaps a reviewer should probe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Oasis ⇄ Terraform Identity Bridge  · 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Calibri"/>
              </a:rPr>
              <a:t>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472"/>
                </a:solidFill>
                <a:latin typeface="Calibri"/>
              </a:rPr>
              <a:t>Honest design-level weaknesses — the thesis holds; the reconciliation between two imperfect sources is what needs hardening.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128016" cy="65836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1A1F2B"/>
                </a:solidFill>
                <a:latin typeface="Calibri"/>
              </a:rPr>
              <a:t>Coverage boundary  —  </a:t>
            </a:r>
            <a:r>
              <a:rPr sz="1300" b="0">
                <a:solidFill>
                  <a:srgbClr val="5B6472"/>
                </a:solidFill>
                <a:latin typeface="Calibri"/>
              </a:rPr>
              <a:t>Only sees what enters Terraform state/plan. Out-of-band changes are invisible; terraform state rm mislabels a live identity as destroyed.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53512"/>
            <a:ext cx="128016" cy="65836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07792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1A1F2B"/>
                </a:solidFill>
                <a:latin typeface="Calibri"/>
              </a:rPr>
              <a:t>Ordering &amp; consistency  —  </a:t>
            </a:r>
            <a:r>
              <a:rPr sz="1300" b="0">
                <a:solidFill>
                  <a:srgbClr val="5B6472"/>
                </a:solidFill>
                <a:latin typeface="Calibri"/>
              </a:rPr>
              <a:t>State-write events are unordered / at-least-once. No use of state serial, no idempotency, no optimistic concurrency — stale events regress the inventory.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12463"/>
            <a:ext cx="128016" cy="65836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66744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1A1F2B"/>
                </a:solidFill>
                <a:latin typeface="Calibri"/>
              </a:rPr>
              <a:t>Reconciliation semantics  —  </a:t>
            </a:r>
            <a:r>
              <a:rPr sz="1300" b="0">
                <a:solidFill>
                  <a:srgbClr val="5B6472"/>
                </a:solidFill>
                <a:latin typeface="Calibri"/>
              </a:rPr>
              <a:t>Fixed: writes now merge, so discovery's runtime data survives. Still assumes ARN is the shared join key between the two systems.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71416"/>
            <a:ext cx="128016" cy="65836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25696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1A1F2B"/>
                </a:solidFill>
                <a:latin typeface="Calibri"/>
              </a:rPr>
              <a:t>Privilege model  —  </a:t>
            </a:r>
            <a:r>
              <a:rPr sz="1300" b="0">
                <a:solidFill>
                  <a:srgbClr val="5B6472"/>
                </a:solidFill>
                <a:latin typeface="Calibri"/>
              </a:rPr>
              <a:t>Policy rules fire on create + inline managed_policy_arns only. Miss updates, attachment resources, and trust-policy changes (who can assume the role).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30368"/>
            <a:ext cx="128016" cy="65836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84648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450" b="1">
                <a:solidFill>
                  <a:srgbClr val="1A1F2B"/>
                </a:solidFill>
                <a:latin typeface="Calibri"/>
              </a:rPr>
              <a:t>Identity surface  —  </a:t>
            </a:r>
            <a:r>
              <a:rPr sz="1300" b="0">
                <a:solidFill>
                  <a:srgbClr val="5B6472"/>
                </a:solidFill>
                <a:latin typeface="Calibri"/>
              </a:rPr>
              <a:t>Address-vs-ARN keying → rename &amp; replace edge cases. Federation and GCP are now modelled; Azure, STS sessions and effective cross-account permissions are not.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6053328"/>
            <a:ext cx="10881360" cy="65836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6053328"/>
            <a:ext cx="128016" cy="658368"/>
          </a:xfrm>
          <a:prstGeom prst="roundRect">
            <a:avLst/>
          </a:prstGeom>
          <a:solidFill>
            <a:srgbClr val="0E7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126480"/>
            <a:ext cx="10424160" cy="5120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E7A74"/>
                </a:solidFill>
                <a:latin typeface="Calibri"/>
              </a:rPr>
              <a:t>These are deliberate design conversations. </a:t>
            </a:r>
            <a:r>
              <a:rPr sz="1300" b="0">
                <a:solidFill>
                  <a:srgbClr val="1A1F2B"/>
                </a:solidFill>
                <a:latin typeface="Calibri"/>
              </a:rPr>
              <a:t>Discovery stays the backstop — full write-up in docs/design-review.md.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